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F4E79"/>
                </a:solidFill>
              </a:defRPr>
            </a:pPr>
            <a:r>
              <a:t>ModelIt! K12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383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0078D7"/>
                </a:solidFill>
              </a:defRPr>
            </a:pPr>
            <a:r>
              <a:t>Brand Color Palette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B2B40"/>
                </a:solidFill>
              </a:defRPr>
            </a:pPr>
            <a:r>
              <a:t>Systems Thinking for Tomorrow's Scientists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B2B40"/>
                </a:solidFill>
              </a:defRPr>
            </a:pPr>
            <a:r>
              <a:t>Generated: November 17,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t>Primary Colors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286000" cy="1371600"/>
          </a:xfrm>
          <a:prstGeom prst="rect">
            <a:avLst/>
          </a:prstGeom>
          <a:solidFill>
            <a:srgbClr val="1F4E79"/>
          </a:solidFill>
          <a:ln w="25400">
            <a:solidFill>
              <a:srgbClr val="2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B2B40"/>
                </a:solidFill>
              </a:defRPr>
            </a:pPr>
            <a:r>
              <a:t>Primary Dark 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latin typeface="Consolas"/>
              </a:defRPr>
            </a:pPr>
            <a:r>
              <a:t>HEX: #1F4E79</a:t>
            </a:r>
          </a:p>
          <a:p>
            <a:pPr algn="ctr">
              <a:defRPr sz="1100">
                <a:latin typeface="Consolas"/>
              </a:defRPr>
            </a:pPr>
            <a:r>
              <a:t>RGB: 31, 78, 121</a:t>
            </a:r>
          </a:p>
          <a:p>
            <a:pPr algn="ctr">
              <a:defRPr sz="1100">
                <a:latin typeface="Consolas"/>
              </a:defRPr>
            </a:pPr>
            <a:r>
              <a:t>CMYK: 74, 36, 0, 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2B2B40"/>
                </a:solidFill>
              </a:defRPr>
            </a:pPr>
            <a:r>
              <a:t>Headings, primary text, professional materials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828800"/>
            <a:ext cx="2286000" cy="1371600"/>
          </a:xfrm>
          <a:prstGeom prst="rect">
            <a:avLst/>
          </a:prstGeom>
          <a:solidFill>
            <a:srgbClr val="0078D7"/>
          </a:solidFill>
          <a:ln w="25400">
            <a:solidFill>
              <a:srgbClr val="2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463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B2B40"/>
                </a:solidFill>
              </a:defRPr>
            </a:pPr>
            <a:r>
              <a:t>Primary Light Blue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latin typeface="Consolas"/>
              </a:defRPr>
            </a:pPr>
            <a:r>
              <a:t>HEX: #0078D7</a:t>
            </a:r>
          </a:p>
          <a:p>
            <a:pPr algn="ctr">
              <a:defRPr sz="1100">
                <a:latin typeface="Consolas"/>
              </a:defRPr>
            </a:pPr>
            <a:r>
              <a:t>RGB: 0, 120, 215</a:t>
            </a:r>
          </a:p>
          <a:p>
            <a:pPr algn="ctr">
              <a:defRPr sz="1100">
                <a:latin typeface="Consolas"/>
              </a:defRPr>
            </a:pPr>
            <a:r>
              <a:t>CMYK: 100, 44, 0,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2B2B40"/>
                </a:solidFill>
              </a:defRPr>
            </a:pPr>
            <a:r>
              <a:t>Accents, CTAs, interactive elements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828800"/>
            <a:ext cx="2286000" cy="1371600"/>
          </a:xfrm>
          <a:prstGeom prst="rect">
            <a:avLst/>
          </a:prstGeom>
          <a:solidFill>
            <a:srgbClr val="2B2B40"/>
          </a:solidFill>
          <a:ln w="25400">
            <a:solidFill>
              <a:srgbClr val="2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463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B2B40"/>
                </a:solidFill>
              </a:defRPr>
            </a:pPr>
            <a:r>
              <a:t>Secondary Navy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latin typeface="Consolas"/>
              </a:defRPr>
            </a:pPr>
            <a:r>
              <a:t>HEX: #2B2B40</a:t>
            </a:r>
          </a:p>
          <a:p>
            <a:pPr algn="ctr">
              <a:defRPr sz="1100">
                <a:latin typeface="Consolas"/>
              </a:defRPr>
            </a:pPr>
            <a:r>
              <a:t>RGB: 43, 43, 64</a:t>
            </a:r>
          </a:p>
          <a:p>
            <a:pPr algn="ctr">
              <a:defRPr sz="1100">
                <a:latin typeface="Consolas"/>
              </a:defRPr>
            </a:pPr>
            <a:r>
              <a:t>CMYK: 33, 33, 0,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2B2B40"/>
                </a:solidFill>
              </a:defRPr>
            </a:pPr>
            <a:r>
              <a:t>Secondary text, borders, subtle accents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t>Accent &amp; Background Colors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286000" cy="1371600"/>
          </a:xfrm>
          <a:prstGeom prst="rect">
            <a:avLst/>
          </a:prstGeom>
          <a:solidFill>
            <a:srgbClr val="F2F6FA"/>
          </a:solidFill>
          <a:ln w="25400">
            <a:solidFill>
              <a:srgbClr val="2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B2B40"/>
                </a:solidFill>
              </a:defRPr>
            </a:pPr>
            <a:r>
              <a:t>Background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latin typeface="Consolas"/>
              </a:defRPr>
            </a:pPr>
            <a:r>
              <a:t>HEX: #F2F6FA</a:t>
            </a:r>
          </a:p>
          <a:p>
            <a:pPr algn="ctr">
              <a:defRPr sz="1100">
                <a:latin typeface="Consolas"/>
              </a:defRPr>
            </a:pPr>
            <a:r>
              <a:t>RGB: 242, 246, 250</a:t>
            </a:r>
          </a:p>
          <a:p>
            <a:pPr algn="ctr">
              <a:defRPr sz="1100">
                <a:latin typeface="Consolas"/>
              </a:defRPr>
            </a:pPr>
            <a:r>
              <a:t>CMYK: 3, 2, 0,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2B2B40"/>
                </a:solidFill>
              </a:defRPr>
            </a:pPr>
            <a:r>
              <a:t>Backgrounds, light sections, cards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828800"/>
            <a:ext cx="2286000" cy="1371600"/>
          </a:xfrm>
          <a:prstGeom prst="rect">
            <a:avLst/>
          </a:prstGeom>
          <a:solidFill>
            <a:srgbClr val="009999"/>
          </a:solidFill>
          <a:ln w="25400">
            <a:solidFill>
              <a:srgbClr val="2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463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B2B40"/>
                </a:solidFill>
              </a:defRPr>
            </a:pPr>
            <a:r>
              <a:t>Accent Teal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latin typeface="Consolas"/>
              </a:defRPr>
            </a:pPr>
            <a:r>
              <a:t>HEX: #009999</a:t>
            </a:r>
          </a:p>
          <a:p>
            <a:pPr algn="ctr">
              <a:defRPr sz="1100">
                <a:latin typeface="Consolas"/>
              </a:defRPr>
            </a:pPr>
            <a:r>
              <a:t>RGB: 0, 153, 153</a:t>
            </a:r>
          </a:p>
          <a:p>
            <a:pPr algn="ctr">
              <a:defRPr sz="1100">
                <a:latin typeface="Consolas"/>
              </a:defRPr>
            </a:pPr>
            <a:r>
              <a:t>CMYK: 100, 0, 0,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2B2B40"/>
                </a:solidFill>
              </a:defRPr>
            </a:pPr>
            <a:r>
              <a:t>Highlights, science themes, molecular diagrams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828800"/>
            <a:ext cx="2286000" cy="1371600"/>
          </a:xfrm>
          <a:prstGeom prst="rect">
            <a:avLst/>
          </a:prstGeom>
          <a:solidFill>
            <a:srgbClr val="FFC857"/>
          </a:solidFill>
          <a:ln w="25400">
            <a:solidFill>
              <a:srgbClr val="2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4630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B2B40"/>
                </a:solidFill>
              </a:defRPr>
            </a:pPr>
            <a:r>
              <a:t>Accent 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latin typeface="Consolas"/>
              </a:defRPr>
            </a:pPr>
            <a:r>
              <a:t>HEX: #FFC857</a:t>
            </a:r>
          </a:p>
          <a:p>
            <a:pPr algn="ctr">
              <a:defRPr sz="1100">
                <a:latin typeface="Consolas"/>
              </a:defRPr>
            </a:pPr>
            <a:r>
              <a:t>RGB: 255, 200, 87</a:t>
            </a:r>
          </a:p>
          <a:p>
            <a:pPr algn="ctr">
              <a:defRPr sz="1100">
                <a:latin typeface="Consolas"/>
              </a:defRPr>
            </a:pPr>
            <a:r>
              <a:t>CMYK: 0, 22, 66,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2B2B40"/>
                </a:solidFill>
              </a:defRPr>
            </a:pPr>
            <a:r>
              <a:t>Warnings, important highlights, premium badges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9"/>
                </a:solidFill>
              </a:defRPr>
            </a:pPr>
            <a:r>
              <a:t>Color Usage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Example Heading (Primary Dark Blue)</a:t>
            </a:r>
          </a:p>
          <a:p>
            <a:pPr>
              <a:defRPr sz="1600">
                <a:solidFill>
                  <a:srgbClr val="2B2B40"/>
                </a:solidFill>
              </a:defRPr>
            </a:pPr>
            <a:r>
              <a:t>This is body text in the same primary dark blue. Use for main content and professional materials.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474720"/>
            <a:ext cx="2743200" cy="640080"/>
          </a:xfrm>
          <a:prstGeom prst="rect">
            <a:avLst/>
          </a:prstGeom>
          <a:solidFill>
            <a:srgbClr val="0078D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Download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743200" cy="640080"/>
          </a:xfrm>
          <a:prstGeom prst="rect">
            <a:avLst/>
          </a:prstGeom>
          <a:solidFill>
            <a:srgbClr val="FFC85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B2B40"/>
                </a:solidFill>
              </a:defRPr>
            </a:pPr>
            <a:r>
              <a:t>⚠️ Important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999"/>
                </a:solidFill>
              </a:defRPr>
            </a:pPr>
            <a:r>
              <a:t>🔬 Science Content (Accent Teal)</a:t>
            </a:r>
          </a:p>
          <a:p>
            <a:pPr>
              <a:defRPr sz="1600">
                <a:solidFill>
                  <a:srgbClr val="2B2B40"/>
                </a:solidFill>
              </a:defRPr>
            </a:pPr>
            <a:r>
              <a:t>Use accent teal for scientific content, molecular diagrams, and biology-themed materials.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